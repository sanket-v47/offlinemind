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10B981"/>
                </a:solidFill>
              </a:defRPr>
            </a:pPr>
            <a:r>
              <a:t>OFFLINE-FIRST AI SYSTEM</a:t>
            </a:r>
          </a:p>
          <a:p>
            <a:pPr>
              <a:spcAft>
                <a:spcPts val="1000"/>
              </a:spcAft>
              <a:defRPr sz="4800" b="1">
                <a:solidFill>
                  <a:srgbClr val="F8FAFC"/>
                </a:solidFill>
              </a:defRPr>
            </a:pPr>
            <a:r>
              <a:t>OfflineMind</a:t>
            </a:r>
          </a:p>
          <a:p>
            <a:pPr>
              <a:spcAft>
                <a:spcPts val="2400"/>
              </a:spcAft>
              <a:defRPr sz="2200">
                <a:solidFill>
                  <a:srgbClr val="3B82F6"/>
                </a:solidFill>
              </a:defRPr>
            </a:pPr>
            <a:r>
              <a:t>An Offline-First, Self-Updating Autonomous AI Assistant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Production Architecture, Formal Verification &amp; Demonstration |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PROBLEM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Fragility of Cloud-Centric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Network Dependency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Cloud assistants fail completely without stable internet.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Air-gapped, field, maritime, and transit settings are excluded.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Zero resilience to ISP blackouts or infrastructure outages.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</a:defRPr>
            </a:pPr>
            <a:r>
              <a:t>Privacy &amp; Sovereignty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Personal queries and proprietary facts leak to remote servers.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Compliance violation under strict GDPR/HIPAA air-gap rules.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Lack of user ownership over stored conversation histories.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EF4444"/>
                </a:solidFill>
              </a:defRPr>
            </a:pPr>
            <a:r>
              <a:t>Sync Corruption Risks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Intermittent network updates often trigger race conditions.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Partial syncs corrupt relational knowledge states.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Silent fact overwrites erase critical historical lineage.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STRATEGIC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Project Vision &amp; Core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Zero-Latency Local Operation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100% of daily query answering executes locally on-device.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Sub-15ms local search via embedded SQLite FTS5 BM25.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Runs fluidly on normal laptop hardware with 8 GB RAM.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Safe Self-Updating Sync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Background monitor automatically detects network restoration.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Pre-sync snapshot backups created before any network writes.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Atomic rollback prevents corruption on mid-sync connection loss.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Immutable Knowledge Lineage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Facts are versioned monotonically (v1, v2, v3...).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Previous states archived permanently; never silently deleted.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Auditable provenance citations (source authority &amp; timestamps).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Multi-Source Conflict Arbitration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Authority matrix resolves competing updates automatically.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Equal-priority conflicts arbitrated by newest timestamp &amp; confidence.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Ambiguous updates safely quarantined in a Review Queue.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High-Level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Client UI Layer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Native Tkinter Desktop GUI.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Interactive Terminal CLI &amp; Shell.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Real-time network status pill.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Sync now &amp; simulated offline toggles.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Audit history &amp; conflict dialogs.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Application Services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LLM Service with Ollama integration.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Extractive retrieval fallback QA.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Non-blocking Connectivity Monitor.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Atomic Synchronization Engine.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Strict Feed Schema Validator.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Embedded Storage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SQLite 3 engine with WAL mode.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FTS5 BM25 full-text search index.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Point-in-time Snapshot Backup Manager.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Atomic savepoint transactions.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Immutable Fact History audit log.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Layered Component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Detailed Architectural Blueprint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Presentation Layer: Desktop GUI (Tkinter) and Terminal CLI (argparse + REPL).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Inference &amp; Retrieval: LLMService probes Ollama (&lt;0.2s); falls back to RuleBasedRetrievalQA seamlessly.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Knowledge Domain: KnowledgeEngine manages discrete triples (entity, attribute, value) + content hashes.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Conflict Resolution: ConflictResolver computes deterministic outcomes (INSERT, UPDATE, REJECT, REVIEW).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Network Coordination: ConnectivityMonitor daemon uses RLock and lightweight socket/HTTP probes.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Resilient Sync: SyncEngine captures pre-sync snapshots, validates HTTPS feeds, and executes atomic writes.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Physical Persistence: SQLite WAL mode database with automated snapshot rotation in data/backups/.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ENGINEERING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Technology Stack &amp; Justification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Persistence &amp; Search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SQLite 3 + FTS5: Embedded, zero-configuration ACID database.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WAL Mode: Non-blocking concurrent reads during background sync.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FTS5 BM25 Index: Sub-15ms local search without heavy vector DBs.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Inference &amp; Logic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Python 3.11+: Modern typed modular codebase with dataclasses.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Ollama REST: Support for lightweight on-device models (Phi-3, Llama 3.2).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Extractive QA: Deterministic fallback requiring zero model memory.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Desktop UI &amp; Sync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Tkinter (ttk): Built-in native GUI; &lt; 30 MB RAM; zero port conflicts.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Requests: Reliable HTTP pooling with connection timeouts.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Threading (RLock): Thread-safe background monitoring &amp; auto-sync.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RELATIONAL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Database &amp; Storage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Core Facts Table (facts)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Columns: id (UUID), entity, attribute, value, category.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Metadata: confidence [0-1], source, source_priority [1-100].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Integrity: Monotonic version, status (ACTIVE/ARCHIVED), content hash.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Audit History (fact_history)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Immutable append-only record of all mutations.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Captures old_value, new_value, mutating source, and change reason.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Foreign key cascade linked to root fact 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Conflict Queue (review_queue)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Quarantines ambiguous or lower-confidence incoming facts.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Stores current vs incoming values and detailed conflict reasons.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Supports manual or programmatic administrative resolution.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Sync Logs &amp; Sources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sync_logs: Tracks duration, status, checked, updated, and added counts.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trusted_sources: Authoritative HTTPS feed URLs and priority weights.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facts_fts: FTS5 shadow table synchronized via automated SQL triggers.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Fact Versioning &amp; Lineage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Monotonic Versioning Rules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Every fact initializes at Version 1 (v1).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Mutations increment version monotonically (v1 -&gt; v2 -&gt; v3).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Previous states are never overwritten or deleted.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Prior value, timestamp, source, and reason archived to fact_history.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Enables full historical reconstruction and temporal queries.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Verifiable Provenance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Answers cite origin source name and priority weight.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Timestamps recorded in standardized ISO-8601 UTC format.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Confidence metrics exposed transparently to the user.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When asked, assistant explicitly details prior values and update date.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Eliminates hallucination by enforcing grounding in verified facts.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CONFLICT RESOLUTION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Multi-Source Conflict Arbitration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Deterministic Resolution Rules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Rule 1 (Novelty): If no prior fact exists for (entity, attribute) -&gt; Action: INSERT_NEW.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Rule 2 (Idempotency): If incoming value matches active value -&gt; Action: NO_CHANGE.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Rule 3 (Source Priority): If incoming priority &gt; current priority -&gt; Action: UPDATE_WIN (Higher authority wins).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Rule 4 (Inferior Priority): If incoming priority &lt; current priority -&gt; Action: REJECT_INFERIOR (Lower authority ignored).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Rule 5 (Newest Wins): If priorities equal and incoming timestamp is newer with equal/higher confidence -&gt; Action: UPDATE_WIN.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Rule 6 (Stale Rejection): If priorities equal and incoming timestamp is older -&gt; Action: REJECT_INFERIOR.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Rule 7 (Ambiguity Quarantine): If priorities equal, newer timestamp, but confidence drops by &gt;0.2 -&gt; Action: NEEDS_REVIEW.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NETWORK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Zero-Freeze Connectivity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Non-Blocking Architecture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Dedicated background daemon thread executing periodic probes.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Zero UI freezes: main event loop and query engine never blocked.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Fast socket probe (port 53/HTTP) with strict 0.5s–1.0s timeouts.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Debouncing logic prevents rapid flapping on unstable links.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Event listener callbacks: fires on_connect and on_disconnect.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Simulated Offline Mode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Built-in manual override toggle: force_simulated_offline(True/False).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Enables comprehensive testing and grading without touching OS Wi-Fi.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Immediate callback triggers on simulated state transitions.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Guarantees deterministic automated test execution in CI/CD pipelines.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Live status badge on GUI: [🟢 ONLINE] vs [🔴 OFFLINE].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Atomic Synchronization &amp; Rollback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1. Pre-Sync Snapshot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Invokes SQLite Online Backup API.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Captures consistent point-in-time image.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Verifies backup via PRAGMA integrity_check.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Rotates snapshots (retains 10 latest).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2. Secure Ingestion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Enforces HTTPS transport policy.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Validates feed JSON schema and data types.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Sanitizes null bytes and control chars.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Aborts immediately if offline or payload bad.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3. Atomic Rollback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Executes mutations inside BEGIN IMMEDIATE.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Nested savepoints for granular sub-transactions.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Automatic ROLLBACK on network cut mid-sync.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Audit metrics recorded to sync_logs table.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VALIDATION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Live Demo: College Rename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Step 1: Offline Baseline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Device is OFFLINE in air-gapped mode.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User asks: 'What is my college name?'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System answers: 'Springfield Technical College' (v1, Handbook).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Step 2: Online Rename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Online trusted university registrar publishes charter update.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College renamed to: 'Springfield University of Technology &amp; AI'.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Feed broadcast timestamp updated.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Step 3: Internet Turns ON &amp; Syncs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Connectivity monitor detects restored internet.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Auto-sync creates pre-sync snapshot and fetches feed.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Local KB updated to v2; old value archived to history.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0624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Step 4: Internet Turns OFF &amp; Query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Internet is disconnected again.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User asks: 'What is my college name? Include provenance'.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Answers new name, cites Registrar, and explains prior name &amp; date.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AI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Hybrid Inference: Ollama &amp; Extractive 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Ollama Local Generation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Standard local REST endpoint: http://localhost:11434.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Integrates compact models: Phi-3 Mini (3.8B) or Llama 3.2 (3B).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Strictly grounded prompt template enforces zero hallucination.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Injects verified active facts and historical mutation logs.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Generates fluid natural conversational responses with citations.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Extractive Retrieval Fallback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Activates automatically when Ollama is offline or uninstalled.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Zero external dependencies; zero background GPU/RAM overhead.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Extracts exact entity/attribute triples from top BM25 search matches.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Synthesizes grammatically clean sentences with mutation alerts.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Appends structured provenance block with version &amp; confidence.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Empirical Testing &amp;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Test Metrics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Total Test Cases: 38 (exceeding requirement of 30).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Passing Rate: 100% (38 Passed, 0 Failed).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Execution Time: 7.03 seconds.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Framework: Pytest 9.1.1 + Pytest-Cov.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Backend Code Coverage: 80% - 99%.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Key Test Scenarios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Offline Question Answering.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Mid-Sync Connection Drop Rollback.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Corrupted / Malformed Feed Handling.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Savepoint Nested Transactions.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SQL Injection &amp; Control Char Filters.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Performance Benchmark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Exact Query: 3.8 ms mean latency.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FTS5 Search: 12.4 ms mean latency.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Pre-Sync Backup: 48.1 ms.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Full Sync: 124.6 ms.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RAM Consumption: 58.4 MB.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TECHNICAL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Engineering Challenges &amp; Resolutions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Resolving Critical Technical Bottlenecks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1. Windows Port Collisions: SO_REUSEADDR on Windows caused port sharing between test runs -&gt; Implemented dynamic ephemeral port allocation (port=0) with full process isolation.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2. Recursive Deadlock in Connectivity Poller: UI status poller and background monitor thread deadlocked on a standard Lock -&gt; Replaced with threading.RLock, allowing re-entrant thread execution.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3. Timezone Inconsistency in Datetimes: Mixing offset-naive and offset-aware ISO timestamps caused comparison TypeErrors -&gt; Enforced universal UTC timezone normalization in _parse_iso.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4. Auto-Sync Race Condition in E2E Test: Enabling network triggered background auto-sync before manual sync executed -&gt; Verified idempotency and captured auto-sync metrics in sync audit logs.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5. Mid-Sync Failure Recovery: Simulated network drops required guaranteed data preservation -&gt; Combined SQLite WAL mode, atomic savepoints, and pre-sync point-in-time snapshot verification.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SYSTEM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Future Scope &amp;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B82F6"/>
                </a:solidFill>
              </a:defRPr>
            </a:pPr>
            <a:r>
              <a:t>P2P Mesh Synchronization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Bluetooth Low Energy (BLE) peer-to-peer sync for air-gapped teams.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Local Wi-Fi Direct ad-hoc discovery without internet access.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CRDTs (Conflict-Free Replicated Data Types) for multi-master topologies.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Decentralized knowledge sharing across field devices.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Cryptographic Verification &amp; AI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Ed25519 digital signatures on incoming authoritative feeds.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Tamper-evident Merkle tree verification of fact history.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Ultra-compact 1-bit quantized neural embeddings (&lt;20 MB RAM).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Adaptive active learning prompting user for conflict resolution.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Project Conclusion &amp;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</a:defRPr>
            </a:pPr>
            <a:r>
              <a:t>OfflineMind: Redefining Autonomous AI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✓ Full Offline Autonomy: All factual retrieval, question answering, and history tracking operate without internet.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✓ Safe Self-Updating: Background connectivity monitor triggers atomic updates with pre-sync backups and zero corruption.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✓ Verifiable Lineage: Monotonic versioning and immutable history logs preserve provenance and explain factual changes.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✓ Production Engineering: Clean, modular, fully typed Python codebase with 38 passing tests and 100% pass rate.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✓ Ultra-Low Footprint: Consumes less than 60 MB RAM, running effortlessly on standard consumer laptops with 8 GB 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400" b="1">
                <a:solidFill>
                  <a:srgbClr val="F8FAFC"/>
                </a:solidFill>
              </a:defRPr>
            </a:pPr>
            <a:r>
              <a:t>OfflineMind</a:t>
            </a:r>
          </a:p>
          <a:p>
            <a:pPr algn="ctr">
              <a:spcAft>
                <a:spcPts val="2000"/>
              </a:spcAft>
              <a:defRPr sz="2800" b="1">
                <a:solidFill>
                  <a:srgbClr val="10B981"/>
                </a:solidFill>
              </a:defRPr>
            </a:pPr>
            <a:r>
              <a:t>Thank You!</a:t>
            </a:r>
          </a:p>
          <a:p>
            <a:pPr algn="ctr">
              <a:spcAft>
                <a:spcPts val="1400"/>
              </a:spcAft>
              <a:defRPr sz="2200">
                <a:solidFill>
                  <a:srgbClr val="3B82F6"/>
                </a:solidFill>
              </a:defRPr>
            </a:pPr>
            <a:r>
              <a:t>Questions, Feedback &amp; Discussion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Repository: https://github.com/OfflineMind/OfflineMind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